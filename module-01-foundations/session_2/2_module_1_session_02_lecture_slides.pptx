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292608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77D3C7"/>
                </a:solidFill>
                <a:latin typeface="Aptos"/>
              </a:rPr>
              <a:t>TRAINING GEOAI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45720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tos"/>
              </a:rPr>
              <a:t>Module 1 · Session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6583680" cy="22860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Representing
Environmental
Observations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4800600"/>
            <a:ext cx="68580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0">
                <a:solidFill>
                  <a:srgbClr val="CDDCE4"/>
                </a:solidFill>
                <a:latin typeface="Aptos"/>
              </a:rPr>
              <a:t>From measurements to labelled environmental data cubes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2057400"/>
            <a:ext cx="2377440" cy="2057400"/>
          </a:xfrm>
          <a:prstGeom prst="roundRect">
            <a:avLst/>
          </a:prstGeom>
          <a:solidFill>
            <a:srgbClr val="224656"/>
          </a:solidFill>
          <a:ln>
            <a:solidFill>
              <a:srgbClr val="5C9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2606040"/>
            <a:ext cx="16459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NDVI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3063240"/>
            <a:ext cx="16459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00" b="0">
                <a:solidFill>
                  <a:srgbClr val="BEDCDA"/>
                </a:solidFill>
                <a:latin typeface="Aptos"/>
              </a:rPr>
              <a:t>lat × lon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68512" y="1801368"/>
            <a:ext cx="2377440" cy="2057400"/>
          </a:xfrm>
          <a:prstGeom prst="roundRect">
            <a:avLst/>
          </a:prstGeom>
          <a:solidFill>
            <a:srgbClr val="2C5060"/>
          </a:solidFill>
          <a:ln>
            <a:solidFill>
              <a:srgbClr val="5C9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015984" y="1545336"/>
            <a:ext cx="2377440" cy="2057400"/>
          </a:xfrm>
          <a:prstGeom prst="roundRect">
            <a:avLst/>
          </a:prstGeom>
          <a:solidFill>
            <a:srgbClr val="365A6A"/>
          </a:solidFill>
          <a:ln>
            <a:solidFill>
              <a:srgbClr val="5C9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50292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268080"/>
                </a:solidFill>
                <a:latin typeface="Aptos"/>
              </a:rPr>
              <a:t>LEARNING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78992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162739"/>
                </a:solidFill>
                <a:latin typeface="Aptos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914400" cy="45720"/>
          </a:xfrm>
          <a:prstGeom prst="rect">
            <a:avLst/>
          </a:prstGeom>
          <a:solidFill>
            <a:srgbClr val="26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01952"/>
            <a:ext cx="4572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268080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240280"/>
            <a:ext cx="29718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1">
                <a:solidFill>
                  <a:srgbClr val="162739"/>
                </a:solidFill>
                <a:latin typeface="Aptos"/>
              </a:rPr>
              <a:t>Model an observation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633472"/>
            <a:ext cx="29260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2D3439"/>
                </a:solidFill>
                <a:latin typeface="Aptos"/>
              </a:rPr>
              <a:t>Variable, value, unit, space, time and provenance.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73736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27448" y="1901952"/>
            <a:ext cx="4572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268080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7448" y="2240280"/>
            <a:ext cx="29718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1">
                <a:solidFill>
                  <a:srgbClr val="162739"/>
                </a:solidFill>
                <a:latin typeface="Aptos"/>
              </a:rPr>
              <a:t>Recognise spatial forms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2633472"/>
            <a:ext cx="29260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2D3439"/>
                </a:solidFill>
                <a:latin typeface="Aptos"/>
              </a:rPr>
              <a:t>Distinguish vector and raster representations.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73736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22208" y="1901952"/>
            <a:ext cx="4572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268080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22208" y="2240280"/>
            <a:ext cx="29718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1">
                <a:solidFill>
                  <a:srgbClr val="162739"/>
                </a:solidFill>
                <a:latin typeface="Aptos"/>
              </a:rPr>
              <a:t>Think multidimensionally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22208" y="2633472"/>
            <a:ext cx="29260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2D3439"/>
                </a:solidFill>
                <a:latin typeface="Aptos"/>
              </a:rPr>
              <a:t>Interpret time × band × y × x EO data.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79476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3959352"/>
            <a:ext cx="4572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268080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4297680"/>
            <a:ext cx="29718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1">
                <a:solidFill>
                  <a:srgbClr val="162739"/>
                </a:solidFill>
                <a:latin typeface="Aptos"/>
              </a:rPr>
              <a:t>Use labelled arrays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690872"/>
            <a:ext cx="29260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2D3439"/>
                </a:solidFill>
                <a:latin typeface="Aptos"/>
              </a:rPr>
              <a:t>Build DataArray and Dataset objects with xarray.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26280" y="379476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27448" y="3959352"/>
            <a:ext cx="4572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268080"/>
                </a:solidFill>
                <a:latin typeface="Apto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27448" y="4297680"/>
            <a:ext cx="29718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1">
                <a:solidFill>
                  <a:srgbClr val="162739"/>
                </a:solidFill>
                <a:latin typeface="Aptos"/>
              </a:rPr>
              <a:t>Treat quality explicitly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27448" y="4690872"/>
            <a:ext cx="29260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2D3439"/>
                </a:solidFill>
                <a:latin typeface="Aptos"/>
              </a:rPr>
              <a:t>Separate missingness from observation quality.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21040" y="379476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22208" y="3959352"/>
            <a:ext cx="4572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268080"/>
                </a:solidFill>
                <a:latin typeface="Aptos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22208" y="4297680"/>
            <a:ext cx="29718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1">
                <a:solidFill>
                  <a:srgbClr val="162739"/>
                </a:solidFill>
                <a:latin typeface="Aptos"/>
              </a:rPr>
              <a:t>Persist scientific 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22208" y="4690872"/>
            <a:ext cx="29260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2D3439"/>
                </a:solidFill>
                <a:latin typeface="Aptos"/>
              </a:rPr>
              <a:t>Save and reopen a self-describing NetCDF dataset.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6473952"/>
            <a:ext cx="50292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0">
                <a:solidFill>
                  <a:srgbClr val="4B7091"/>
                </a:solidFill>
                <a:latin typeface="Aptos"/>
              </a:rPr>
              <a:t>TRAINING GEOAI  •  MODULE 1 / SESSION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09960" y="6428232"/>
            <a:ext cx="36576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4B7091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50292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268080"/>
                </a:solidFill>
                <a:latin typeface="Aptos"/>
              </a:rPr>
              <a:t>ENVIRONMENTAL OBSERVATION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78992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162739"/>
                </a:solidFill>
                <a:latin typeface="Aptos"/>
              </a:rPr>
              <a:t>An observation is more than a number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914400" cy="45720"/>
          </a:xfrm>
          <a:prstGeom prst="rect">
            <a:avLst/>
          </a:prstGeom>
          <a:solidFill>
            <a:srgbClr val="26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1828800" cy="9144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4200" b="1">
                <a:solidFill>
                  <a:srgbClr val="268080"/>
                </a:solidFill>
                <a:latin typeface="Aptos"/>
              </a:rPr>
              <a:t>18.2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43200"/>
            <a:ext cx="18288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0">
                <a:solidFill>
                  <a:srgbClr val="4B7091"/>
                </a:solidFill>
                <a:latin typeface="Aptos"/>
              </a:rPr>
              <a:t>alone has little scientific meaning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8960" y="1600200"/>
            <a:ext cx="3429000" cy="960120"/>
          </a:xfrm>
          <a:prstGeom prst="roundRect">
            <a:avLst/>
          </a:prstGeom>
          <a:solidFill>
            <a:srgbClr val="DDEFEB"/>
          </a:solidFill>
          <a:ln>
            <a:solidFill>
              <a:srgbClr val="BED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10128" y="1755648"/>
            <a:ext cx="9144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1">
                <a:solidFill>
                  <a:srgbClr val="268080"/>
                </a:solidFill>
                <a:latin typeface="Aptos"/>
              </a:rPr>
              <a:t>WHAT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10128" y="2039112"/>
            <a:ext cx="29718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162739"/>
                </a:solidFill>
                <a:latin typeface="Aptos"/>
              </a:rPr>
              <a:t>air_temperature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95160" y="1600200"/>
            <a:ext cx="3429000" cy="960120"/>
          </a:xfrm>
          <a:prstGeom prst="roundRect">
            <a:avLst/>
          </a:prstGeom>
          <a:solidFill>
            <a:srgbClr val="DDEFEB"/>
          </a:solidFill>
          <a:ln>
            <a:solidFill>
              <a:srgbClr val="BED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96328" y="1755648"/>
            <a:ext cx="9144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1">
                <a:solidFill>
                  <a:srgbClr val="268080"/>
                </a:solidFill>
                <a:latin typeface="Aptos"/>
              </a:rPr>
              <a:t>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96328" y="2039112"/>
            <a:ext cx="29718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162739"/>
                </a:solidFill>
                <a:latin typeface="Aptos"/>
              </a:rPr>
              <a:t>18.2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08960" y="2926080"/>
            <a:ext cx="3429000" cy="960120"/>
          </a:xfrm>
          <a:prstGeom prst="roundRect">
            <a:avLst/>
          </a:prstGeom>
          <a:solidFill>
            <a:srgbClr val="DDEFEB"/>
          </a:solidFill>
          <a:ln>
            <a:solidFill>
              <a:srgbClr val="BED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10128" y="3081528"/>
            <a:ext cx="9144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1">
                <a:solidFill>
                  <a:srgbClr val="268080"/>
                </a:solidFill>
                <a:latin typeface="Aptos"/>
              </a:rPr>
              <a:t>UNIT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10128" y="3364992"/>
            <a:ext cx="29718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162739"/>
                </a:solidFill>
                <a:latin typeface="Aptos"/>
              </a:rPr>
              <a:t>degC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95160" y="2926080"/>
            <a:ext cx="3429000" cy="960120"/>
          </a:xfrm>
          <a:prstGeom prst="roundRect">
            <a:avLst/>
          </a:prstGeom>
          <a:solidFill>
            <a:srgbClr val="DDEFEB"/>
          </a:solidFill>
          <a:ln>
            <a:solidFill>
              <a:srgbClr val="BED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96328" y="3081528"/>
            <a:ext cx="9144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1">
                <a:solidFill>
                  <a:srgbClr val="268080"/>
                </a:solidFill>
                <a:latin typeface="Aptos"/>
              </a:rPr>
              <a:t>WHERE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3364992"/>
            <a:ext cx="29718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162739"/>
                </a:solidFill>
                <a:latin typeface="Aptos"/>
              </a:rPr>
              <a:t>50.72, −3.53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08960" y="4251960"/>
            <a:ext cx="3429000" cy="960120"/>
          </a:xfrm>
          <a:prstGeom prst="roundRect">
            <a:avLst/>
          </a:prstGeom>
          <a:solidFill>
            <a:srgbClr val="DDEFEB"/>
          </a:solidFill>
          <a:ln>
            <a:solidFill>
              <a:srgbClr val="BED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10128" y="4407408"/>
            <a:ext cx="9144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1">
                <a:solidFill>
                  <a:srgbClr val="268080"/>
                </a:solidFill>
                <a:latin typeface="Aptos"/>
              </a:rPr>
              <a:t>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10128" y="4690872"/>
            <a:ext cx="29718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162739"/>
                </a:solidFill>
                <a:latin typeface="Aptos"/>
              </a:rPr>
              <a:t>2026-09-24 10:30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95160" y="4251960"/>
            <a:ext cx="3429000" cy="960120"/>
          </a:xfrm>
          <a:prstGeom prst="roundRect">
            <a:avLst/>
          </a:prstGeom>
          <a:solidFill>
            <a:srgbClr val="DDEFEB"/>
          </a:solidFill>
          <a:ln>
            <a:solidFill>
              <a:srgbClr val="BED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96328" y="4407408"/>
            <a:ext cx="9144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1">
                <a:solidFill>
                  <a:srgbClr val="268080"/>
                </a:solidFill>
                <a:latin typeface="Aptos"/>
              </a:rPr>
              <a:t>SOURCE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96328" y="4690872"/>
            <a:ext cx="29718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162739"/>
                </a:solidFill>
                <a:latin typeface="Aptos"/>
              </a:rPr>
              <a:t>weather_station_01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5715000"/>
            <a:ext cx="73152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700" b="1">
                <a:solidFill>
                  <a:srgbClr val="162739"/>
                </a:solidFill>
                <a:latin typeface="Aptos"/>
              </a:rPr>
              <a:t>phenomenon + value + unit + space + time + provenance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6473952"/>
            <a:ext cx="50292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0">
                <a:solidFill>
                  <a:srgbClr val="4B7091"/>
                </a:solidFill>
                <a:latin typeface="Aptos"/>
              </a:rPr>
              <a:t>TRAINING GEOAI  •  MODULE 1 / SESSION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428232"/>
            <a:ext cx="36576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4B7091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50292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268080"/>
                </a:solidFill>
                <a:latin typeface="Aptos"/>
              </a:rPr>
              <a:t>SPATIAL REPRESENTATION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78992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162739"/>
                </a:solidFill>
                <a:latin typeface="Aptos"/>
              </a:rPr>
              <a:t>Vector or raster?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914400" cy="45720"/>
          </a:xfrm>
          <a:prstGeom prst="rect">
            <a:avLst/>
          </a:prstGeom>
          <a:solidFill>
            <a:srgbClr val="26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63640" y="1737360"/>
            <a:ext cx="521208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65960"/>
            <a:ext cx="18288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162739"/>
                </a:solidFill>
                <a:latin typeface="Aptos"/>
              </a:rPr>
              <a:t>VECTOR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31720"/>
            <a:ext cx="34747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4B7091"/>
                </a:solidFill>
                <a:latin typeface="Aptos"/>
              </a:rPr>
              <a:t>Discrete geographic objects</a:t>
            </a:r>
          </a:p>
        </p:txBody>
      </p:sp>
      <p:sp>
        <p:nvSpPr>
          <p:cNvPr id="10" name="Oval 9"/>
          <p:cNvSpPr/>
          <p:nvPr/>
        </p:nvSpPr>
        <p:spPr>
          <a:xfrm>
            <a:off x="1371600" y="3154680"/>
            <a:ext cx="164592" cy="164592"/>
          </a:xfrm>
          <a:prstGeom prst="ellipse">
            <a:avLst/>
          </a:prstGeom>
          <a:solidFill>
            <a:srgbClr val="26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011680" y="3840480"/>
            <a:ext cx="164592" cy="164592"/>
          </a:xfrm>
          <a:prstGeom prst="ellipse">
            <a:avLst/>
          </a:prstGeom>
          <a:solidFill>
            <a:srgbClr val="26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743200" y="3337560"/>
            <a:ext cx="164592" cy="164592"/>
          </a:xfrm>
          <a:prstGeom prst="ellipse">
            <a:avLst/>
          </a:prstGeom>
          <a:solidFill>
            <a:srgbClr val="26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3291840" y="3063240"/>
            <a:ext cx="1554480" cy="1005840"/>
          </a:xfrm>
          <a:prstGeom prst="line">
            <a:avLst/>
          </a:prstGeom>
          <a:ln w="38100">
            <a:solidFill>
              <a:srgbClr val="4B70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Hexagon 13"/>
          <p:cNvSpPr/>
          <p:nvPr/>
        </p:nvSpPr>
        <p:spPr>
          <a:xfrm>
            <a:off x="1371600" y="4617720"/>
            <a:ext cx="1005840" cy="731520"/>
          </a:xfrm>
          <a:prstGeom prst="hexagon">
            <a:avLst/>
          </a:prstGeom>
          <a:solidFill>
            <a:srgbClr val="DDEFEB"/>
          </a:solidFill>
          <a:ln>
            <a:solidFill>
              <a:srgbClr val="26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486400"/>
            <a:ext cx="42062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2D3439"/>
                </a:solidFill>
                <a:latin typeface="Aptos"/>
              </a:rPr>
              <a:t>points  •  lines  •  polygons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1965960"/>
            <a:ext cx="18288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162739"/>
                </a:solidFill>
                <a:latin typeface="Aptos"/>
              </a:rPr>
              <a:t>RASTER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331720"/>
            <a:ext cx="34747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4B7091"/>
                </a:solidFill>
                <a:latin typeface="Aptos"/>
              </a:rPr>
              <a:t>A regular grid of pixels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03720" y="2971800"/>
            <a:ext cx="749808" cy="566928"/>
          </a:xfrm>
          <a:prstGeom prst="rect">
            <a:avLst/>
          </a:prstGeom>
          <a:solidFill>
            <a:srgbClr val="DDEFEB"/>
          </a:solidFill>
          <a:ln>
            <a:solidFill>
              <a:srgbClr val="B4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3127248"/>
            <a:ext cx="749808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00" b="1">
                <a:solidFill>
                  <a:srgbClr val="2D3439"/>
                </a:solidFill>
                <a:latin typeface="Aptos"/>
              </a:rPr>
              <a:t>0.72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44968" y="2971800"/>
            <a:ext cx="749808" cy="566928"/>
          </a:xfrm>
          <a:prstGeom prst="rect">
            <a:avLst/>
          </a:prstGeom>
          <a:solidFill>
            <a:srgbClr val="DDEFEB"/>
          </a:solidFill>
          <a:ln>
            <a:solidFill>
              <a:srgbClr val="B4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44968" y="3127248"/>
            <a:ext cx="749808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00" b="1">
                <a:solidFill>
                  <a:srgbClr val="2D3439"/>
                </a:solidFill>
                <a:latin typeface="Aptos"/>
              </a:rPr>
              <a:t>0.68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86216" y="2971800"/>
            <a:ext cx="749808" cy="566928"/>
          </a:xfrm>
          <a:prstGeom prst="rect">
            <a:avLst/>
          </a:prstGeom>
          <a:solidFill>
            <a:srgbClr val="F6F8F9"/>
          </a:solidFill>
          <a:ln>
            <a:solidFill>
              <a:srgbClr val="B4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86216" y="3127248"/>
            <a:ext cx="749808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00" b="1">
                <a:solidFill>
                  <a:srgbClr val="2D3439"/>
                </a:solidFill>
                <a:latin typeface="Aptos"/>
              </a:rPr>
              <a:t>0.31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03720" y="3630168"/>
            <a:ext cx="749808" cy="566928"/>
          </a:xfrm>
          <a:prstGeom prst="rect">
            <a:avLst/>
          </a:prstGeom>
          <a:solidFill>
            <a:srgbClr val="DDEFEB"/>
          </a:solidFill>
          <a:ln>
            <a:solidFill>
              <a:srgbClr val="B4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03720" y="3785615"/>
            <a:ext cx="749808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00" b="1">
                <a:solidFill>
                  <a:srgbClr val="2D3439"/>
                </a:solidFill>
                <a:latin typeface="Aptos"/>
              </a:rPr>
              <a:t>0.75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44968" y="3630168"/>
            <a:ext cx="749808" cy="566928"/>
          </a:xfrm>
          <a:prstGeom prst="rect">
            <a:avLst/>
          </a:prstGeom>
          <a:solidFill>
            <a:srgbClr val="DDEFEB"/>
          </a:solidFill>
          <a:ln>
            <a:solidFill>
              <a:srgbClr val="B4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44968" y="3785615"/>
            <a:ext cx="749808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00" b="1">
                <a:solidFill>
                  <a:srgbClr val="2D3439"/>
                </a:solidFill>
                <a:latin typeface="Aptos"/>
              </a:rPr>
              <a:t>0.70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86216" y="3630168"/>
            <a:ext cx="749808" cy="566928"/>
          </a:xfrm>
          <a:prstGeom prst="rect">
            <a:avLst/>
          </a:prstGeom>
          <a:solidFill>
            <a:srgbClr val="F6F8F9"/>
          </a:solidFill>
          <a:ln>
            <a:solidFill>
              <a:srgbClr val="B4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86216" y="3785615"/>
            <a:ext cx="749808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00" b="1">
                <a:solidFill>
                  <a:srgbClr val="2D3439"/>
                </a:solidFill>
                <a:latin typeface="Aptos"/>
              </a:rPr>
              <a:t>0.28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03720" y="4288536"/>
            <a:ext cx="749808" cy="566928"/>
          </a:xfrm>
          <a:prstGeom prst="rect">
            <a:avLst/>
          </a:prstGeom>
          <a:solidFill>
            <a:srgbClr val="DDEFEB"/>
          </a:solidFill>
          <a:ln>
            <a:solidFill>
              <a:srgbClr val="B4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03720" y="4443983"/>
            <a:ext cx="749808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00" b="1">
                <a:solidFill>
                  <a:srgbClr val="2D3439"/>
                </a:solidFill>
                <a:latin typeface="Aptos"/>
              </a:rPr>
              <a:t>0.81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44968" y="4288536"/>
            <a:ext cx="749808" cy="566928"/>
          </a:xfrm>
          <a:prstGeom prst="rect">
            <a:avLst/>
          </a:prstGeom>
          <a:solidFill>
            <a:srgbClr val="DDEFEB"/>
          </a:solidFill>
          <a:ln>
            <a:solidFill>
              <a:srgbClr val="B4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44968" y="4443983"/>
            <a:ext cx="749808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00" b="1">
                <a:solidFill>
                  <a:srgbClr val="2D3439"/>
                </a:solidFill>
                <a:latin typeface="Aptos"/>
              </a:rPr>
              <a:t>0.74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586216" y="4288536"/>
            <a:ext cx="749808" cy="566928"/>
          </a:xfrm>
          <a:prstGeom prst="rect">
            <a:avLst/>
          </a:prstGeom>
          <a:solidFill>
            <a:srgbClr val="F6F8F9"/>
          </a:solidFill>
          <a:ln>
            <a:solidFill>
              <a:srgbClr val="B4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86216" y="4443983"/>
            <a:ext cx="749808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00" b="1">
                <a:solidFill>
                  <a:srgbClr val="2D3439"/>
                </a:solidFill>
                <a:latin typeface="Aptos"/>
              </a:rPr>
              <a:t>0.25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5486400"/>
            <a:ext cx="42062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2D3439"/>
                </a:solidFill>
                <a:latin typeface="Aptos"/>
              </a:rPr>
              <a:t>satellite imagery  •  NDVI  •  DEM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6473952"/>
            <a:ext cx="50292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0">
                <a:solidFill>
                  <a:srgbClr val="4B7091"/>
                </a:solidFill>
                <a:latin typeface="Aptos"/>
              </a:rPr>
              <a:t>TRAINING GEOAI  •  MODULE 1 / SESSION 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09960" y="6428232"/>
            <a:ext cx="36576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4B7091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50292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268080"/>
                </a:solidFill>
                <a:latin typeface="Aptos"/>
              </a:rPr>
              <a:t>RASTER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78992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162739"/>
                </a:solidFill>
                <a:latin typeface="Aptos"/>
              </a:rPr>
              <a:t>A matrix becomes a map through georeferencing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914400" cy="45720"/>
          </a:xfrm>
          <a:prstGeom prst="rect">
            <a:avLst/>
          </a:prstGeom>
          <a:solidFill>
            <a:srgbClr val="26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148840"/>
            <a:ext cx="512064" cy="512064"/>
          </a:xfrm>
          <a:prstGeom prst="rect">
            <a:avLst/>
          </a:prstGeom>
          <a:solidFill>
            <a:srgbClr val="CCE1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81328" y="2148840"/>
            <a:ext cx="512064" cy="512064"/>
          </a:xfrm>
          <a:prstGeom prst="rect">
            <a:avLst/>
          </a:prstGeom>
          <a:solidFill>
            <a:srgbClr val="DDEF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48256" y="2148840"/>
            <a:ext cx="512064" cy="512064"/>
          </a:xfrm>
          <a:prstGeom prst="rect">
            <a:avLst/>
          </a:prstGeom>
          <a:solidFill>
            <a:srgbClr val="DDEF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615184" y="2148840"/>
            <a:ext cx="512064" cy="512064"/>
          </a:xfrm>
          <a:prstGeom prst="rect">
            <a:avLst/>
          </a:prstGeom>
          <a:solidFill>
            <a:srgbClr val="CCE1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82112" y="2148840"/>
            <a:ext cx="512064" cy="512064"/>
          </a:xfrm>
          <a:prstGeom prst="rect">
            <a:avLst/>
          </a:prstGeom>
          <a:solidFill>
            <a:srgbClr val="DDEF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2715768"/>
            <a:ext cx="512064" cy="512064"/>
          </a:xfrm>
          <a:prstGeom prst="rect">
            <a:avLst/>
          </a:prstGeom>
          <a:solidFill>
            <a:srgbClr val="DDEF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481328" y="2715768"/>
            <a:ext cx="512064" cy="512064"/>
          </a:xfrm>
          <a:prstGeom prst="rect">
            <a:avLst/>
          </a:prstGeom>
          <a:solidFill>
            <a:srgbClr val="DDEF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48256" y="2715768"/>
            <a:ext cx="512064" cy="512064"/>
          </a:xfrm>
          <a:prstGeom prst="rect">
            <a:avLst/>
          </a:prstGeom>
          <a:solidFill>
            <a:srgbClr val="CCE1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15184" y="2715768"/>
            <a:ext cx="512064" cy="512064"/>
          </a:xfrm>
          <a:prstGeom prst="rect">
            <a:avLst/>
          </a:prstGeom>
          <a:solidFill>
            <a:srgbClr val="DDEF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182112" y="2715768"/>
            <a:ext cx="512064" cy="512064"/>
          </a:xfrm>
          <a:prstGeom prst="rect">
            <a:avLst/>
          </a:prstGeom>
          <a:solidFill>
            <a:srgbClr val="DDEF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" y="3282696"/>
            <a:ext cx="512064" cy="512064"/>
          </a:xfrm>
          <a:prstGeom prst="rect">
            <a:avLst/>
          </a:prstGeom>
          <a:solidFill>
            <a:srgbClr val="DDEF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481328" y="3282696"/>
            <a:ext cx="512064" cy="512064"/>
          </a:xfrm>
          <a:prstGeom prst="rect">
            <a:avLst/>
          </a:prstGeom>
          <a:solidFill>
            <a:srgbClr val="CCE1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048256" y="3282696"/>
            <a:ext cx="512064" cy="512064"/>
          </a:xfrm>
          <a:prstGeom prst="rect">
            <a:avLst/>
          </a:prstGeom>
          <a:solidFill>
            <a:srgbClr val="DDEF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15184" y="3282696"/>
            <a:ext cx="512064" cy="512064"/>
          </a:xfrm>
          <a:prstGeom prst="rect">
            <a:avLst/>
          </a:prstGeom>
          <a:solidFill>
            <a:srgbClr val="DDEF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182112" y="3282696"/>
            <a:ext cx="512064" cy="512064"/>
          </a:xfrm>
          <a:prstGeom prst="rect">
            <a:avLst/>
          </a:prstGeom>
          <a:solidFill>
            <a:srgbClr val="CCE1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" y="3849624"/>
            <a:ext cx="512064" cy="512064"/>
          </a:xfrm>
          <a:prstGeom prst="rect">
            <a:avLst/>
          </a:prstGeom>
          <a:solidFill>
            <a:srgbClr val="CCE1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481328" y="3849624"/>
            <a:ext cx="512064" cy="512064"/>
          </a:xfrm>
          <a:prstGeom prst="rect">
            <a:avLst/>
          </a:prstGeom>
          <a:solidFill>
            <a:srgbClr val="DDEF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048256" y="3849624"/>
            <a:ext cx="512064" cy="512064"/>
          </a:xfrm>
          <a:prstGeom prst="rect">
            <a:avLst/>
          </a:prstGeom>
          <a:solidFill>
            <a:srgbClr val="DDEF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615184" y="3849624"/>
            <a:ext cx="512064" cy="512064"/>
          </a:xfrm>
          <a:prstGeom prst="rect">
            <a:avLst/>
          </a:prstGeom>
          <a:solidFill>
            <a:srgbClr val="CCE1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182112" y="3849624"/>
            <a:ext cx="512064" cy="512064"/>
          </a:xfrm>
          <a:prstGeom prst="rect">
            <a:avLst/>
          </a:prstGeom>
          <a:solidFill>
            <a:srgbClr val="DDEF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709160"/>
            <a:ext cx="28346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162739"/>
                </a:solidFill>
                <a:latin typeface="Aptos"/>
              </a:rPr>
              <a:t>pixel values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0" y="1828800"/>
            <a:ext cx="28803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54880" y="2011680"/>
            <a:ext cx="24688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268080"/>
                </a:solidFill>
                <a:latin typeface="Aptos"/>
              </a:rPr>
              <a:t>EXTENT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2359152"/>
            <a:ext cx="24688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2D3439"/>
                </a:solidFill>
                <a:latin typeface="Aptos"/>
              </a:rPr>
              <a:t>Where the grid lies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18120" y="1828800"/>
            <a:ext cx="28803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01000" y="2011680"/>
            <a:ext cx="24688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268080"/>
                </a:solidFill>
                <a:latin typeface="Aptos"/>
              </a:rPr>
              <a:t>CRS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2359152"/>
            <a:ext cx="24688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2D3439"/>
                </a:solidFill>
                <a:latin typeface="Aptos"/>
              </a:rPr>
              <a:t>How coordinates relate to Earth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0" y="3474720"/>
            <a:ext cx="28803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54880" y="3657600"/>
            <a:ext cx="24688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268080"/>
                </a:solidFill>
                <a:latin typeface="Aptos"/>
              </a:rPr>
              <a:t>RESOLUTION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0" y="4005072"/>
            <a:ext cx="24688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2D3439"/>
                </a:solidFill>
                <a:latin typeface="Aptos"/>
              </a:rPr>
              <a:t>Ground size represented by a pixel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18120" y="3474720"/>
            <a:ext cx="28803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01000" y="3657600"/>
            <a:ext cx="24688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268080"/>
                </a:solidFill>
                <a:latin typeface="Aptos"/>
              </a:rPr>
              <a:t>VALUES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01000" y="4005072"/>
            <a:ext cx="24688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2D3439"/>
                </a:solidFill>
                <a:latin typeface="Aptos"/>
              </a:rPr>
              <a:t>Environmental measurements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5349240"/>
            <a:ext cx="28346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162739"/>
                </a:solidFill>
                <a:latin typeface="Aptos"/>
              </a:rPr>
              <a:t>Example: EPSG:4326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18120" y="5257800"/>
            <a:ext cx="329184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162739"/>
                </a:solidFill>
                <a:latin typeface="Aptos"/>
              </a:rPr>
              <a:t>Smaller pixels → more pixels over the same area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6473952"/>
            <a:ext cx="50292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0">
                <a:solidFill>
                  <a:srgbClr val="4B7091"/>
                </a:solidFill>
                <a:latin typeface="Aptos"/>
              </a:rPr>
              <a:t>TRAINING GEOAI  •  MODULE 1 / SESSION 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09960" y="6428232"/>
            <a:ext cx="36576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4B7091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50292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268080"/>
                </a:solidFill>
                <a:latin typeface="Aptos"/>
              </a:rPr>
              <a:t>MULTIDIMENSIONAL EO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78992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162739"/>
                </a:solidFill>
                <a:latin typeface="Aptos"/>
              </a:rPr>
              <a:t>From raster to data cube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914400" cy="45720"/>
          </a:xfrm>
          <a:prstGeom prst="rect">
            <a:avLst/>
          </a:prstGeom>
          <a:solidFill>
            <a:srgbClr val="26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329184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57400"/>
            <a:ext cx="73152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268080"/>
                </a:solidFill>
                <a:latin typeface="Aptos"/>
              </a:rPr>
              <a:t>2D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74320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100" b="1">
                <a:solidFill>
                  <a:srgbClr val="162739"/>
                </a:solidFill>
                <a:latin typeface="Aptos"/>
              </a:rPr>
              <a:t>y × 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429000"/>
            <a:ext cx="274320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0">
                <a:solidFill>
                  <a:srgbClr val="2D3439"/>
                </a:solidFill>
                <a:latin typeface="Aptos"/>
              </a:rPr>
              <a:t>one raster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87368" y="2880360"/>
            <a:ext cx="457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600" b="1">
                <a:solidFill>
                  <a:srgbClr val="4B7091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828800"/>
            <a:ext cx="329184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600" y="2057400"/>
            <a:ext cx="73152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268080"/>
                </a:solidFill>
                <a:latin typeface="Aptos"/>
              </a:rPr>
              <a:t>3D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274320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100" b="1">
                <a:solidFill>
                  <a:srgbClr val="162739"/>
                </a:solidFill>
                <a:latin typeface="Aptos"/>
              </a:rPr>
              <a:t>time × y × 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3429000"/>
            <a:ext cx="274320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0">
                <a:solidFill>
                  <a:srgbClr val="2D3439"/>
                </a:solidFill>
                <a:latin typeface="Aptos"/>
              </a:rPr>
              <a:t>repeated observations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82128" y="2880360"/>
            <a:ext cx="457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600" b="1">
                <a:solidFill>
                  <a:srgbClr val="4B7091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1828800"/>
            <a:ext cx="329184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57400"/>
            <a:ext cx="73152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268080"/>
                </a:solidFill>
                <a:latin typeface="Aptos"/>
              </a:rPr>
              <a:t>4D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74320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100" b="1">
                <a:solidFill>
                  <a:srgbClr val="162739"/>
                </a:solidFill>
                <a:latin typeface="Aptos"/>
              </a:rPr>
              <a:t>time × band × y × 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3429000"/>
            <a:ext cx="274320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0">
                <a:solidFill>
                  <a:srgbClr val="2D3439"/>
                </a:solidFill>
                <a:latin typeface="Aptos"/>
              </a:rPr>
              <a:t>multispectral time series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5623560"/>
            <a:ext cx="987552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1">
                <a:solidFill>
                  <a:srgbClr val="162739"/>
                </a:solidFill>
                <a:latin typeface="Aptos"/>
              </a:rPr>
              <a:t>Shape (12, 4, 100, 150) = 12 times × 4 bands × 100 rows × 150 columns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473952"/>
            <a:ext cx="50292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0">
                <a:solidFill>
                  <a:srgbClr val="4B7091"/>
                </a:solidFill>
                <a:latin typeface="Aptos"/>
              </a:rPr>
              <a:t>TRAINING GEOAI  •  MODULE 1 / SESSION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09960" y="6428232"/>
            <a:ext cx="36576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4B7091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50292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268080"/>
                </a:solidFill>
                <a:latin typeface="Aptos"/>
              </a:rPr>
              <a:t>LABELLED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78992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162739"/>
                </a:solidFill>
                <a:latin typeface="Aptos"/>
              </a:rPr>
              <a:t>Dimensions organise. Coordinates explain.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914400" cy="45720"/>
          </a:xfrm>
          <a:prstGeom prst="rect">
            <a:avLst/>
          </a:prstGeom>
          <a:solidFill>
            <a:srgbClr val="26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32004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4B7091"/>
                </a:solidFill>
                <a:latin typeface="Aptos"/>
              </a:rPr>
              <a:t>POSITIONAL ARRAY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194560"/>
            <a:ext cx="4389120" cy="2286000"/>
          </a:xfrm>
          <a:prstGeom prst="roundRect">
            <a:avLst/>
          </a:prstGeom>
          <a:solidFill>
            <a:srgbClr val="F6F8F9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80360"/>
            <a:ext cx="3749039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500" b="1">
                <a:solidFill>
                  <a:srgbClr val="162739"/>
                </a:solidFill>
                <a:latin typeface="Aptos Mono"/>
              </a:rPr>
              <a:t>data[3, 2, 50, 75]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794760"/>
            <a:ext cx="384048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0">
                <a:solidFill>
                  <a:srgbClr val="2D3439"/>
                </a:solidFill>
                <a:latin typeface="Aptos"/>
              </a:rPr>
              <a:t>What do 3, 2, 50 and 75 mean?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32004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268080"/>
                </a:solidFill>
                <a:latin typeface="Aptos"/>
              </a:rPr>
              <a:t>LABELLED ARRAY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194560"/>
            <a:ext cx="4754880" cy="2286000"/>
          </a:xfrm>
          <a:prstGeom prst="roundRect">
            <a:avLst/>
          </a:prstGeom>
          <a:solidFill>
            <a:srgbClr val="DDEFEB"/>
          </a:solidFill>
          <a:ln>
            <a:solidFill>
              <a:srgbClr val="BED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2280" y="2606040"/>
            <a:ext cx="3931920" cy="1417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1">
                <a:solidFill>
                  <a:srgbClr val="162739"/>
                </a:solidFill>
                <a:latin typeface="Aptos"/>
              </a:rPr>
              <a:t>time = "2026-06-15"
band = "NIR"
latitude = 51.49
longitude = −3.18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5257800"/>
            <a:ext cx="850392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700" b="1">
                <a:solidFill>
                  <a:srgbClr val="162739"/>
                </a:solidFill>
                <a:latin typeface="Aptos"/>
              </a:rPr>
              <a:t>xarray attaches names, coordinates and metadata to multidimensional arrays.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473952"/>
            <a:ext cx="50292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0">
                <a:solidFill>
                  <a:srgbClr val="4B7091"/>
                </a:solidFill>
                <a:latin typeface="Aptos"/>
              </a:rPr>
              <a:t>TRAINING GEOAI  •  MODULE 1 / SESSION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9960" y="6428232"/>
            <a:ext cx="36576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4B7091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50292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268080"/>
                </a:solidFill>
                <a:latin typeface="Aptos"/>
              </a:rPr>
              <a:t>XARRAY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78992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162739"/>
                </a:solidFill>
                <a:latin typeface="Aptos"/>
              </a:rPr>
              <a:t>DataArray vs Dataset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914400" cy="45720"/>
          </a:xfrm>
          <a:prstGeom prst="rect">
            <a:avLst/>
          </a:prstGeom>
          <a:solidFill>
            <a:srgbClr val="26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512064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22860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200" b="1">
                <a:solidFill>
                  <a:srgbClr val="162739"/>
                </a:solidFill>
                <a:latin typeface="Aptos"/>
              </a:rPr>
              <a:t>DataArray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468880"/>
            <a:ext cx="29260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0">
                <a:solidFill>
                  <a:srgbClr val="4B7091"/>
                </a:solidFill>
                <a:latin typeface="Aptos"/>
              </a:rPr>
              <a:t>One labelled variable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154680"/>
            <a:ext cx="128016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400" b="1">
                <a:solidFill>
                  <a:srgbClr val="268080"/>
                </a:solidFill>
                <a:latin typeface="Aptos"/>
              </a:rPr>
              <a:t>NDVI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749039"/>
            <a:ext cx="34747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1">
                <a:solidFill>
                  <a:srgbClr val="2D3439"/>
                </a:solidFill>
                <a:latin typeface="Aptos"/>
              </a:rPr>
              <a:t>time × latitude × longitude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434840"/>
            <a:ext cx="228600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0">
                <a:solidFill>
                  <a:srgbClr val="2D3439"/>
                </a:solidFill>
                <a:latin typeface="Aptos"/>
              </a:rPr>
              <a:t>+ coordinates
+ attributes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737360"/>
            <a:ext cx="5120640" cy="4251960"/>
          </a:xfrm>
          <a:prstGeom prst="roundRect">
            <a:avLst/>
          </a:prstGeom>
          <a:solidFill>
            <a:srgbClr val="DDEFEB"/>
          </a:solidFill>
          <a:ln>
            <a:solidFill>
              <a:srgbClr val="BED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011680"/>
            <a:ext cx="22860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200" b="1">
                <a:solidFill>
                  <a:srgbClr val="162739"/>
                </a:solidFill>
                <a:latin typeface="Aptos"/>
              </a:rPr>
              <a:t>Dataset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68880"/>
            <a:ext cx="38404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0">
                <a:solidFill>
                  <a:srgbClr val="4B7091"/>
                </a:solidFill>
                <a:latin typeface="Aptos"/>
              </a:rPr>
              <a:t>Multiple variables sharing coordinates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154680"/>
            <a:ext cx="12801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268080"/>
                </a:solidFill>
                <a:latin typeface="Aptos"/>
              </a:rPr>
              <a:t>NDVI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703320"/>
            <a:ext cx="18288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CA8448"/>
                </a:solidFill>
                <a:latin typeface="Aptos"/>
              </a:rPr>
              <a:t>temperature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389120"/>
            <a:ext cx="384048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2D3439"/>
                </a:solidFill>
                <a:latin typeface="Aptos"/>
              </a:rPr>
              <a:t>same time / latitude / longitude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473952"/>
            <a:ext cx="50292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0">
                <a:solidFill>
                  <a:srgbClr val="4B7091"/>
                </a:solidFill>
                <a:latin typeface="Aptos"/>
              </a:rPr>
              <a:t>TRAINING GEOAI  •  MODULE 1 / SESSION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428232"/>
            <a:ext cx="36576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4B7091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50292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268080"/>
                </a:solidFill>
                <a:latin typeface="Aptos"/>
              </a:rPr>
              <a:t>QUALITY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78992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162739"/>
                </a:solidFill>
                <a:latin typeface="Aptos"/>
              </a:rPr>
              <a:t>Missing data ≠ bad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914400" cy="45720"/>
          </a:xfrm>
          <a:prstGeom prst="rect">
            <a:avLst/>
          </a:prstGeom>
          <a:solidFill>
            <a:srgbClr val="26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783080"/>
            <a:ext cx="512064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57400"/>
            <a:ext cx="21031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1">
                <a:solidFill>
                  <a:srgbClr val="162739"/>
                </a:solidFill>
                <a:latin typeface="Aptos"/>
              </a:rPr>
              <a:t>MISSINGNESS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43200"/>
            <a:ext cx="18288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268080"/>
                </a:solidFill>
                <a:latin typeface="Aptos Mono"/>
              </a:rPr>
              <a:t>np.nan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474720"/>
            <a:ext cx="411480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0">
                <a:solidFill>
                  <a:srgbClr val="2D3439"/>
                </a:solidFill>
                <a:latin typeface="Aptos"/>
              </a:rPr>
              <a:t>No usable numerical observation is present.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572000"/>
            <a:ext cx="402336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4B7091"/>
                </a:solidFill>
                <a:latin typeface="Aptos"/>
              </a:rPr>
              <a:t>size = possible positions
count() = non-missing values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783080"/>
            <a:ext cx="5120640" cy="4297680"/>
          </a:xfrm>
          <a:prstGeom prst="roundRect">
            <a:avLst/>
          </a:prstGeom>
          <a:solidFill>
            <a:srgbClr val="DDEFEB"/>
          </a:solidFill>
          <a:ln>
            <a:solidFill>
              <a:srgbClr val="BED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057400"/>
            <a:ext cx="21031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1">
                <a:solidFill>
                  <a:srgbClr val="162739"/>
                </a:solidFill>
                <a:latin typeface="Aptos"/>
              </a:rPr>
              <a:t>QUALITY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743200"/>
            <a:ext cx="13716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CA8448"/>
                </a:solidFill>
                <a:latin typeface="Aptos"/>
              </a:rPr>
              <a:t>0.12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474720"/>
            <a:ext cx="4114800" cy="8229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0">
                <a:solidFill>
                  <a:srgbClr val="2D3439"/>
                </a:solidFill>
                <a:latin typeface="Aptos"/>
              </a:rPr>
              <a:t>A value may exist but be unsuitable—for example, cloud contamination.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572000"/>
            <a:ext cx="411480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4B7091"/>
                </a:solidFill>
                <a:latin typeface="Aptos"/>
              </a:rPr>
              <a:t>quality mask → .where(mask) → analysis-ready values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473952"/>
            <a:ext cx="50292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0">
                <a:solidFill>
                  <a:srgbClr val="4B7091"/>
                </a:solidFill>
                <a:latin typeface="Aptos"/>
              </a:rPr>
              <a:t>TRAINING GEOAI  •  MODULE 1 / SESSION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428232"/>
            <a:ext cx="36576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4B7091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50292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268080"/>
                </a:solidFill>
                <a:latin typeface="Aptos"/>
              </a:rPr>
              <a:t>BUILD A SMALL ENVIRONMENTAL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78992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162739"/>
                </a:solidFill>
                <a:latin typeface="Aptos"/>
              </a:rPr>
              <a:t>Session practical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914400" cy="45720"/>
          </a:xfrm>
          <a:prstGeom prst="rect">
            <a:avLst/>
          </a:prstGeom>
          <a:solidFill>
            <a:srgbClr val="26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377440"/>
            <a:ext cx="15087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B9D2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670048"/>
            <a:ext cx="132588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162739"/>
                </a:solidFill>
                <a:latin typeface="Aptos"/>
              </a:rPr>
              <a:t>NumPy arrays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30552" y="2651760"/>
            <a:ext cx="347472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000" b="1">
                <a:solidFill>
                  <a:srgbClr val="4B7091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96312" y="2377440"/>
            <a:ext cx="15087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B9D2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87752" y="2670048"/>
            <a:ext cx="132588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162739"/>
                </a:solidFill>
                <a:latin typeface="Aptos"/>
              </a:rPr>
              <a:t>Shared coordinates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32504" y="2651760"/>
            <a:ext cx="347472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000" b="1">
                <a:solidFill>
                  <a:srgbClr val="4B7091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8264" y="2377440"/>
            <a:ext cx="1508760" cy="1051560"/>
          </a:xfrm>
          <a:prstGeom prst="roundRect">
            <a:avLst/>
          </a:prstGeom>
          <a:solidFill>
            <a:srgbClr val="DDEFEB"/>
          </a:solidFill>
          <a:ln>
            <a:solidFill>
              <a:srgbClr val="B9D2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4" y="2670048"/>
            <a:ext cx="132588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162739"/>
                </a:solidFill>
                <a:latin typeface="Aptos"/>
              </a:rPr>
              <a:t>xarray Dataset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34456" y="2651760"/>
            <a:ext cx="347472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000" b="1">
                <a:solidFill>
                  <a:srgbClr val="4B7091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0216" y="2377440"/>
            <a:ext cx="15087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B9D2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1656" y="2670048"/>
            <a:ext cx="132588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162739"/>
                </a:solidFill>
                <a:latin typeface="Aptos"/>
              </a:rPr>
              <a:t>Metadata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36408" y="2651760"/>
            <a:ext cx="347472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000" b="1">
                <a:solidFill>
                  <a:srgbClr val="4B7091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02168" y="2377440"/>
            <a:ext cx="15087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B9D2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3608" y="2670048"/>
            <a:ext cx="132588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162739"/>
                </a:solidFill>
                <a:latin typeface="Aptos"/>
              </a:rPr>
              <a:t>Select &amp; analyse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60" y="2651760"/>
            <a:ext cx="347472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000" b="1">
                <a:solidFill>
                  <a:srgbClr val="4B7091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04120" y="2377440"/>
            <a:ext cx="1508760" cy="1051560"/>
          </a:xfrm>
          <a:prstGeom prst="roundRect">
            <a:avLst/>
          </a:prstGeom>
          <a:solidFill>
            <a:srgbClr val="DDEFEB"/>
          </a:solidFill>
          <a:ln>
            <a:solidFill>
              <a:srgbClr val="B9D2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95560" y="2670048"/>
            <a:ext cx="132588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162739"/>
                </a:solidFill>
                <a:latin typeface="Aptos"/>
              </a:rPr>
              <a:t>NetCDF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251960"/>
            <a:ext cx="10972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268080"/>
                </a:solidFill>
                <a:latin typeface="Aptos"/>
              </a:rPr>
              <a:t>Variables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4206240"/>
            <a:ext cx="36576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62739"/>
                </a:solidFill>
                <a:latin typeface="Aptos"/>
              </a:rPr>
              <a:t>NDVI  •  Land Surface Temperature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892040"/>
            <a:ext cx="10972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268080"/>
                </a:solidFill>
                <a:latin typeface="Aptos"/>
              </a:rPr>
              <a:t>Dimensions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4846320"/>
            <a:ext cx="36576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62739"/>
                </a:solidFill>
                <a:latin typeface="Aptos"/>
              </a:rPr>
              <a:t>time × latitude × longitude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4251960"/>
            <a:ext cx="10972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268080"/>
                </a:solidFill>
                <a:latin typeface="Aptos"/>
              </a:rPr>
              <a:t>Output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4206240"/>
            <a:ext cx="338328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62739"/>
                </a:solidFill>
                <a:latin typeface="Aptos Mono"/>
              </a:rPr>
              <a:t>environmental_observations.nc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6473952"/>
            <a:ext cx="50292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0">
                <a:solidFill>
                  <a:srgbClr val="4B7091"/>
                </a:solidFill>
                <a:latin typeface="Aptos"/>
              </a:rPr>
              <a:t>TRAINING GEOAI  •  MODULE 1 / SESSION 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09960" y="6428232"/>
            <a:ext cx="36576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4B7091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50292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268080"/>
                </a:solidFill>
                <a:latin typeface="Aptos"/>
              </a:rPr>
              <a:t>SELECTION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78992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162739"/>
                </a:solidFill>
                <a:latin typeface="Aptos"/>
              </a:rPr>
              <a:t>What remains free determines what you get back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914400" cy="45720"/>
          </a:xfrm>
          <a:prstGeom prst="rect">
            <a:avLst/>
          </a:prstGeom>
          <a:solidFill>
            <a:srgbClr val="26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106984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947672"/>
            <a:ext cx="32461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162739"/>
                </a:solidFill>
                <a:latin typeface="Aptos"/>
              </a:rPr>
              <a:t>Select time + lat + lon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1920240"/>
            <a:ext cx="4114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800" b="1">
                <a:solidFill>
                  <a:srgbClr val="268080"/>
                </a:solidFill>
                <a:latin typeface="Aptos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947672"/>
            <a:ext cx="22860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2D3439"/>
                </a:solidFill>
                <a:latin typeface="Aptos"/>
              </a:rPr>
              <a:t>scalar observation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947672"/>
            <a:ext cx="30175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0">
                <a:solidFill>
                  <a:srgbClr val="4B7091"/>
                </a:solidFill>
                <a:latin typeface="Aptos"/>
              </a:rPr>
              <a:t>0 dimensions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761488"/>
            <a:ext cx="106984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971800"/>
            <a:ext cx="32461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162739"/>
                </a:solidFill>
                <a:latin typeface="Aptos"/>
              </a:rPr>
              <a:t>Select lat + lon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944368"/>
            <a:ext cx="4114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800" b="1">
                <a:solidFill>
                  <a:srgbClr val="268080"/>
                </a:solidFill>
                <a:latin typeface="Aptos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971800"/>
            <a:ext cx="22860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2D3439"/>
                </a:solidFill>
                <a:latin typeface="Aptos"/>
              </a:rPr>
              <a:t>time series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971800"/>
            <a:ext cx="30175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0">
                <a:solidFill>
                  <a:srgbClr val="4B7091"/>
                </a:solidFill>
                <a:latin typeface="Aptos"/>
              </a:rPr>
              <a:t>time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785616"/>
            <a:ext cx="106984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995928"/>
            <a:ext cx="32461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162739"/>
                </a:solidFill>
                <a:latin typeface="Aptos"/>
              </a:rPr>
              <a:t>Select 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3968496"/>
            <a:ext cx="4114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800" b="1">
                <a:solidFill>
                  <a:srgbClr val="268080"/>
                </a:solidFill>
                <a:latin typeface="Aptos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3995928"/>
            <a:ext cx="22860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2D3439"/>
                </a:solidFill>
                <a:latin typeface="Aptos"/>
              </a:rPr>
              <a:t>spatial raster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3995928"/>
            <a:ext cx="30175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0">
                <a:solidFill>
                  <a:srgbClr val="4B7091"/>
                </a:solidFill>
                <a:latin typeface="Aptos"/>
              </a:rPr>
              <a:t>latitude × longitude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809744"/>
            <a:ext cx="106984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5020056"/>
            <a:ext cx="32461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162739"/>
                </a:solidFill>
                <a:latin typeface="Aptos"/>
              </a:rPr>
              <a:t>Select variable only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4992624"/>
            <a:ext cx="4114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800" b="1">
                <a:solidFill>
                  <a:srgbClr val="268080"/>
                </a:solidFill>
                <a:latin typeface="Aptos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5020056"/>
            <a:ext cx="22860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2D3439"/>
                </a:solidFill>
                <a:latin typeface="Aptos"/>
              </a:rPr>
              <a:t>data cube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5020056"/>
            <a:ext cx="30175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0">
                <a:solidFill>
                  <a:srgbClr val="4B7091"/>
                </a:solidFill>
                <a:latin typeface="Aptos"/>
              </a:rPr>
              <a:t>time × latitude × longitude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6473952"/>
            <a:ext cx="50292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0">
                <a:solidFill>
                  <a:srgbClr val="4B7091"/>
                </a:solidFill>
                <a:latin typeface="Aptos"/>
              </a:rPr>
              <a:t>TRAINING GEOAI  •  MODULE 1 / SESSION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09960" y="6428232"/>
            <a:ext cx="36576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4B7091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50292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268080"/>
                </a:solidFill>
                <a:latin typeface="Aptos"/>
              </a:rPr>
              <a:t>AGGREGATION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78992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162739"/>
                </a:solidFill>
                <a:latin typeface="Aptos"/>
              </a:rPr>
              <a:t>Collapse dimensions to answer environmental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914400" cy="45720"/>
          </a:xfrm>
          <a:prstGeom prst="rect">
            <a:avLst/>
          </a:prstGeom>
          <a:solidFill>
            <a:srgbClr val="26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9144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268080"/>
                </a:solidFill>
                <a:latin typeface="Aptos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94560"/>
            <a:ext cx="3749039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162739"/>
                </a:solidFill>
                <a:latin typeface="Aptos"/>
              </a:rPr>
              <a:t>NDVI(time, latitude, longitude)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2880360"/>
            <a:ext cx="34747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1">
                <a:solidFill>
                  <a:srgbClr val="4B7091"/>
                </a:solidFill>
                <a:latin typeface="Aptos"/>
              </a:rPr>
              <a:t>mean over latitude + longitude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2834640"/>
            <a:ext cx="457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800" b="1">
                <a:solidFill>
                  <a:srgbClr val="268080"/>
                </a:solidFill>
                <a:latin typeface="Aptos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9144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268080"/>
                </a:solidFill>
                <a:latin typeface="Aptos"/>
              </a:rPr>
              <a:t>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194560"/>
            <a:ext cx="228600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162739"/>
                </a:solidFill>
                <a:latin typeface="Aptos"/>
              </a:rPr>
              <a:t>NDVI(time)</a:t>
            </a:r>
          </a:p>
        </p:txBody>
      </p:sp>
      <p:sp>
        <p:nvSpPr>
          <p:cNvPr id="12" name="Oval 11"/>
          <p:cNvSpPr/>
          <p:nvPr/>
        </p:nvSpPr>
        <p:spPr>
          <a:xfrm>
            <a:off x="8321040" y="4767315"/>
            <a:ext cx="146304" cy="146304"/>
          </a:xfrm>
          <a:prstGeom prst="ellipse">
            <a:avLst/>
          </a:prstGeom>
          <a:solidFill>
            <a:srgbClr val="26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01000" y="5440680"/>
            <a:ext cx="7772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00" b="0">
                <a:solidFill>
                  <a:srgbClr val="2D3439"/>
                </a:solidFill>
                <a:latin typeface="Aptos"/>
              </a:rPr>
              <a:t>1 Jun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8394192" y="4535424"/>
            <a:ext cx="1051560" cy="305043"/>
          </a:xfrm>
          <a:prstGeom prst="line">
            <a:avLst/>
          </a:prstGeom>
          <a:ln w="31750">
            <a:solidFill>
              <a:srgbClr val="26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9372600" y="4462272"/>
            <a:ext cx="146304" cy="146304"/>
          </a:xfrm>
          <a:prstGeom prst="ellipse">
            <a:avLst/>
          </a:prstGeom>
          <a:solidFill>
            <a:srgbClr val="26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0" y="5440680"/>
            <a:ext cx="7772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00" b="0">
                <a:solidFill>
                  <a:srgbClr val="2D3439"/>
                </a:solidFill>
                <a:latin typeface="Aptos"/>
              </a:rPr>
              <a:t>15 Jun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445752" y="4535424"/>
            <a:ext cx="1051559" cy="500359"/>
          </a:xfrm>
          <a:prstGeom prst="line">
            <a:avLst/>
          </a:prstGeom>
          <a:ln w="31750">
            <a:solidFill>
              <a:srgbClr val="26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10424159" y="4962631"/>
            <a:ext cx="146304" cy="146304"/>
          </a:xfrm>
          <a:prstGeom prst="ellipse">
            <a:avLst/>
          </a:prstGeom>
          <a:solidFill>
            <a:srgbClr val="26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04119" y="5440680"/>
            <a:ext cx="7772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00" b="0">
                <a:solidFill>
                  <a:srgbClr val="2D3439"/>
                </a:solidFill>
                <a:latin typeface="Aptos"/>
              </a:rPr>
              <a:t>1 Jul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983480"/>
            <a:ext cx="61264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1">
                <a:solidFill>
                  <a:srgbClr val="162739"/>
                </a:solidFill>
                <a:latin typeface="Aptos"/>
              </a:rPr>
              <a:t>Spatial aggregation preserves time while summarising the study area.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473952"/>
            <a:ext cx="50292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0">
                <a:solidFill>
                  <a:srgbClr val="4B7091"/>
                </a:solidFill>
                <a:latin typeface="Aptos"/>
              </a:rPr>
              <a:t>TRAINING GEOAI  •  MODULE 1 / SESSION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09960" y="6428232"/>
            <a:ext cx="36576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4B7091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50292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268080"/>
                </a:solidFill>
                <a:latin typeface="Aptos"/>
              </a:rPr>
              <a:t>NETCDF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78992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162739"/>
                </a:solidFill>
                <a:latin typeface="Aptos"/>
              </a:rPr>
              <a:t>Persist the data model, not just the numbers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914400" cy="45720"/>
          </a:xfrm>
          <a:prstGeom prst="rect">
            <a:avLst/>
          </a:prstGeom>
          <a:solidFill>
            <a:srgbClr val="26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29718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148840"/>
            <a:ext cx="219456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000" b="1">
                <a:solidFill>
                  <a:srgbClr val="162739"/>
                </a:solidFill>
                <a:latin typeface="Aptos"/>
              </a:rPr>
              <a:t>xarray 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880360"/>
            <a:ext cx="2194560" cy="1463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0">
                <a:solidFill>
                  <a:srgbClr val="2D3439"/>
                </a:solidFill>
                <a:latin typeface="Aptos"/>
              </a:rPr>
              <a:t>dimensions
coordinates
variables
attributes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3017520"/>
            <a:ext cx="18288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800" b="1">
                <a:solidFill>
                  <a:srgbClr val="268080"/>
                </a:solidFill>
                <a:latin typeface="Aptos Mono"/>
              </a:rPr>
              <a:t>to_netcdf()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880" y="3017520"/>
            <a:ext cx="457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800" b="1">
                <a:solidFill>
                  <a:srgbClr val="4B7091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1828800"/>
            <a:ext cx="4389120" cy="3566160"/>
          </a:xfrm>
          <a:prstGeom prst="roundRect">
            <a:avLst/>
          </a:prstGeom>
          <a:solidFill>
            <a:srgbClr val="DDEFEB"/>
          </a:solidFill>
          <a:ln>
            <a:solidFill>
              <a:srgbClr val="BED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03720" y="2331720"/>
            <a:ext cx="3749039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800" b="1">
                <a:solidFill>
                  <a:srgbClr val="162739"/>
                </a:solidFill>
                <a:latin typeface="Aptos Mono"/>
              </a:rPr>
              <a:t>environmental_observations.nc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3246120"/>
            <a:ext cx="3749039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00" b="1">
                <a:solidFill>
                  <a:srgbClr val="2D3439"/>
                </a:solidFill>
                <a:latin typeface="Aptos"/>
              </a:rPr>
              <a:t>Reopen with xr.open_dataset()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4069080"/>
            <a:ext cx="3749039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0">
                <a:solidFill>
                  <a:srgbClr val="4B7091"/>
                </a:solidFill>
                <a:latin typeface="Aptos"/>
              </a:rPr>
              <a:t>Verify structure + metadata survived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473952"/>
            <a:ext cx="50292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0">
                <a:solidFill>
                  <a:srgbClr val="4B7091"/>
                </a:solidFill>
                <a:latin typeface="Aptos"/>
              </a:rPr>
              <a:t>TRAINING GEOAI  •  MODULE 1 / SESSION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28232"/>
            <a:ext cx="36576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4B7091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50292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268080"/>
                </a:solidFill>
                <a:latin typeface="Aptos"/>
              </a:rPr>
              <a:t>FINAL PRACTICAL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78992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162739"/>
                </a:solidFill>
                <a:latin typeface="Aptos"/>
              </a:rPr>
              <a:t>From stored observations to an environmental answer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914400" cy="45720"/>
          </a:xfrm>
          <a:prstGeom prst="rect">
            <a:avLst/>
          </a:prstGeom>
          <a:solidFill>
            <a:srgbClr val="26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9144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268080"/>
                </a:solidFill>
                <a:latin typeface="Aptos"/>
              </a:rPr>
              <a:t>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4663440" cy="9144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400" b="1">
                <a:solidFill>
                  <a:srgbClr val="162739"/>
                </a:solidFill>
                <a:latin typeface="Aptos"/>
              </a:rPr>
              <a:t>Which date had the highest mean
land-surface temperature?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7960" y="1828800"/>
            <a:ext cx="4480560" cy="2103120"/>
          </a:xfrm>
          <a:prstGeom prst="roundRect">
            <a:avLst/>
          </a:prstGeom>
          <a:solidFill>
            <a:srgbClr val="DDEFEB"/>
          </a:solidFill>
          <a:ln>
            <a:solidFill>
              <a:srgbClr val="BED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12280" y="2240280"/>
            <a:ext cx="39319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800" b="1">
                <a:solidFill>
                  <a:srgbClr val="162739"/>
                </a:solidFill>
                <a:latin typeface="Aptos"/>
              </a:rPr>
              <a:t>2026-07-01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2971800"/>
            <a:ext cx="39319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400" b="1">
                <a:solidFill>
                  <a:srgbClr val="268080"/>
                </a:solidFill>
                <a:latin typeface="Aptos"/>
              </a:rPr>
              <a:t>24.63 °C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00600"/>
            <a:ext cx="102412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700" b="1">
                <a:solidFill>
                  <a:srgbClr val="2D3439"/>
                </a:solidFill>
                <a:latin typeface="Aptos Mono"/>
              </a:rPr>
              <a:t>mean(dim=["latitude", "longitude"])  →  max() + idxmax("time")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73952"/>
            <a:ext cx="50292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0">
                <a:solidFill>
                  <a:srgbClr val="4B7091"/>
                </a:solidFill>
                <a:latin typeface="Aptos"/>
              </a:rPr>
              <a:t>TRAINING GEOAI  •  MODULE 1 / SESSION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9960" y="6428232"/>
            <a:ext cx="36576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4B7091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27432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77D3C7"/>
                </a:solidFill>
                <a:latin typeface="Aptos"/>
              </a:rPr>
              <a:t>SESSION 2 ·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87552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Representing environmental observations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4114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77D3C7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2029968"/>
            <a:ext cx="95097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Observation = value + environmental 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87752"/>
            <a:ext cx="4114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77D3C7"/>
                </a:solidFill>
                <a:latin typeface="Aptos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560320"/>
            <a:ext cx="95097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Raster and vector encode space differently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18104"/>
            <a:ext cx="4114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77D3C7"/>
                </a:solidFill>
                <a:latin typeface="Aptos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3090672"/>
            <a:ext cx="95097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EO data naturally become multidimensional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48456"/>
            <a:ext cx="4114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77D3C7"/>
                </a:solidFill>
                <a:latin typeface="Aptos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621024"/>
            <a:ext cx="95097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Dimensions organise; coordinates give meaning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78808"/>
            <a:ext cx="4114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77D3C7"/>
                </a:solidFill>
                <a:latin typeface="Aptos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151376"/>
            <a:ext cx="95097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xarray makes arrays labelled and self-describing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709160"/>
            <a:ext cx="4114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77D3C7"/>
                </a:solidFill>
                <a:latin typeface="Aptos"/>
              </a:rP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681728"/>
            <a:ext cx="95097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Quality and missingness must be handled explicitly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239512"/>
            <a:ext cx="4114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77D3C7"/>
                </a:solidFill>
                <a:latin typeface="Aptos"/>
              </a:rPr>
              <a:t>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212079"/>
            <a:ext cx="95097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NetCDF preserves the environmental data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989320"/>
            <a:ext cx="1051560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CDDCE4"/>
                </a:solidFill>
                <a:latin typeface="Aptos"/>
              </a:rPr>
              <a:t>Next: use these representations as the foundation for real geospatial and EO workflows.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