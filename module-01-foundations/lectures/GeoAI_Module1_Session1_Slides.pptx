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71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Engineering Workstation</a:t>
            </a:r>
            <a:br/>
            <a:r>
              <a:t>&amp; First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2E1F0"/>
                </a:solidFill>
              </a:defRPr>
            </a:pPr>
            <a:r>
              <a:t>GeoAI Software Engineering • Module 1 • Session 01</a:t>
            </a:r>
          </a:p>
          <a:p>
            <a:pPr>
              <a:defRPr sz="1400">
                <a:solidFill>
                  <a:srgbClr val="B4CDE1"/>
                </a:solidFill>
              </a:defRPr>
            </a:pPr>
            <a:r>
              <a:t>PowerShell • Python • VS Code • Git •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Session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ptos"/>
              </a:defRPr>
            </a:pPr>
            <a:r>
              <a:t>What you should be able to explain and do after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Explain the roles of VS Code, Python, the terminal and the operating system.</a:t>
            </a:r>
          </a:p>
          <a:p>
            <a:pPr>
              <a:spcAft>
                <a:spcPts val="11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Navigate the filesystem and create a project workspace from PowerShell.</a:t>
            </a:r>
          </a:p>
          <a:p>
            <a:pPr>
              <a:spcAft>
                <a:spcPts val="11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Run Python source code from the terminal.</a:t>
            </a:r>
          </a:p>
          <a:p>
            <a:pPr>
              <a:spcAft>
                <a:spcPts val="11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Initialise a Git repository and understand working directory → staging → repository.</a:t>
            </a:r>
          </a:p>
          <a:p>
            <a:pPr>
              <a:spcAft>
                <a:spcPts val="11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Commit deliberately, ignore unsuitable files, connect a GitHub remote and push.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Where today fits in GeoAI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17520" y="5486400"/>
            <a:ext cx="6126480" cy="594360"/>
          </a:xfrm>
          <a:prstGeom prst="roundRect">
            <a:avLst/>
          </a:prstGeom>
          <a:solidFill>
            <a:srgbClr val="D9EAF7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5596128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7365D"/>
                </a:solidFill>
              </a:defRPr>
            </a:pPr>
            <a:r>
              <a:t>Web GIS /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4572000"/>
            <a:ext cx="6126480" cy="594360"/>
          </a:xfrm>
          <a:prstGeom prst="roundRect">
            <a:avLst/>
          </a:prstGeom>
          <a:solidFill>
            <a:srgbClr val="D9EAF7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681728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7365D"/>
                </a:solidFill>
              </a:defRPr>
            </a:pPr>
            <a:r>
              <a:t>FastAPI /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3657600"/>
            <a:ext cx="6126480" cy="594360"/>
          </a:xfrm>
          <a:prstGeom prst="roundRect">
            <a:avLst/>
          </a:prstGeom>
          <a:solidFill>
            <a:srgbClr val="D9EAF7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767328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7365D"/>
                </a:solidFill>
              </a:defRPr>
            </a:pPr>
            <a:r>
              <a:t>PostGIS + GeoAI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743200"/>
            <a:ext cx="6126480" cy="594360"/>
          </a:xfrm>
          <a:prstGeom prst="roundRect">
            <a:avLst/>
          </a:prstGeom>
          <a:solidFill>
            <a:srgbClr val="EFF5FA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852928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7365D"/>
                </a:solidFill>
              </a:defRPr>
            </a:pPr>
            <a:r>
              <a:t>Python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28800"/>
            <a:ext cx="6126480" cy="594360"/>
          </a:xfrm>
          <a:prstGeom prst="roundRect">
            <a:avLst/>
          </a:prstGeom>
          <a:solidFill>
            <a:srgbClr val="EFF5FA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938528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7365D"/>
                </a:solidFill>
              </a:defRPr>
            </a:pPr>
            <a:r>
              <a:t>Satellite / Spatial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234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Before building the upper layers, we need a reliable engineering workstation and version-control workflow.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Diagnose before you install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39"/>
            <a:ext cx="4754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Python 3.14.7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Interpreter available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59" y="1554480"/>
            <a:ext cx="51206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91639"/>
            <a:ext cx="4754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VS Code 1.136.1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Editor / IDE available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1206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4754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Git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Initially missing; installed during the session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383280"/>
            <a:ext cx="51206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520440"/>
            <a:ext cx="4754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PowerShell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Primary Windows terminal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5212080"/>
            <a:ext cx="6217920" cy="100584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544068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nsolas"/>
              </a:defRPr>
            </a:pPr>
            <a:r>
              <a:t>python --version</a:t>
            </a:r>
            <a:br/>
            <a:r>
              <a:t> git --version</a:t>
            </a:r>
            <a:br/>
            <a:r>
              <a:t> code --version</a:t>
            </a:r>
            <a:br/>
            <a:r>
              <a:t> pwd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VS Code does not execute Python by itself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463040"/>
            <a:ext cx="6675120" cy="868680"/>
          </a:xfrm>
          <a:prstGeom prst="roundRect">
            <a:avLst/>
          </a:prstGeom>
          <a:solidFill>
            <a:srgbClr val="EFF5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1600200"/>
            <a:ext cx="63093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You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Write and decide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606040"/>
            <a:ext cx="6675120" cy="868680"/>
          </a:xfrm>
          <a:prstGeom prst="round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63093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VS Code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Edit, organise and debug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749039"/>
            <a:ext cx="6675120" cy="868680"/>
          </a:xfrm>
          <a:prstGeom prst="roundRect">
            <a:avLst/>
          </a:prstGeom>
          <a:solidFill>
            <a:srgbClr val="EFF5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3886200"/>
            <a:ext cx="63093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Python interpreter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Read and execute Python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892040"/>
            <a:ext cx="6675120" cy="868680"/>
          </a:xfrm>
          <a:prstGeom prst="round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5029200"/>
            <a:ext cx="63093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Operating system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Manage processes, files and resources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Commands, arguments and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554480"/>
            <a:ext cx="4389120" cy="91440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7830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nsolas"/>
              </a:defRPr>
            </a:pPr>
            <a:r>
              <a:t>python --version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417320"/>
            <a:ext cx="521208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python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Program / command PowerShell must resolve.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788920"/>
            <a:ext cx="521208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2926079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--version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Option passed to the program.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788920"/>
            <a:ext cx="4389120" cy="1920240"/>
          </a:xfrm>
          <a:prstGeom prst="roundRect">
            <a:avLst/>
          </a:prstGeom>
          <a:solidFill>
            <a:srgbClr val="EFF5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926079"/>
            <a:ext cx="40233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PATH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One mechanism Windows uses to search locations for executable programs. Diagnostic tools: where.exe and Get-Command.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Filesystem navigation from PowerShell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F5597"/>
                </a:solidFill>
                <a:latin typeface="Consolas"/>
              </a:defRPr>
            </a:pPr>
            <a:r>
              <a:t>pwd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32588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current working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F5597"/>
                </a:solidFill>
                <a:latin typeface="Consolas"/>
              </a:defRPr>
            </a:pPr>
            <a:r>
              <a:t>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984248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list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42615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F5597"/>
                </a:solidFill>
                <a:latin typeface="Consolas"/>
              </a:defRPr>
            </a:pPr>
            <a:r>
              <a:t>cd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642615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enter a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00984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F5597"/>
                </a:solidFill>
                <a:latin typeface="Consolas"/>
              </a:defRPr>
            </a:pPr>
            <a:r>
              <a:t>cd 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300984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parent directory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9352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F5597"/>
                </a:solidFill>
                <a:latin typeface="Consolas"/>
              </a:defRPr>
            </a:pPr>
            <a:r>
              <a:t>cd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959352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current directory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F5597"/>
                </a:solidFill>
                <a:latin typeface="Consolas"/>
              </a:defRPr>
            </a:pPr>
            <a:r>
              <a:t>mkdir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61772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create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7608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F5597"/>
                </a:solidFill>
                <a:latin typeface="Consolas"/>
              </a:defRPr>
            </a:pPr>
            <a:r>
              <a:t>code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5276088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open current directory in VS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First Python program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214884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nsolas"/>
              </a:defRPr>
            </a:pPr>
            <a:r>
              <a:t>print("GeoAI Software Engineering")</a:t>
            </a:r>
            <a:br/>
            <a:r>
              <a:t>print("Module 1 - Foundations")</a:t>
            </a:r>
            <a:br/>
            <a:r>
              <a:t>print("Environment successfully configured")</a:t>
            </a:r>
            <a:br/>
            <a:r>
              <a:t>print("My first GeoAI engineering repository is running")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4023360"/>
            <a:ext cx="5943600" cy="77724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79" y="425196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nsolas"/>
              </a:defRPr>
            </a:pPr>
            <a:r>
              <a:t>python hello_geoai.py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074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Source file = instructions.</a:t>
            </a:r>
          </a:p>
          <a:p>
            <a:pPr>
              <a:spcAft>
                <a:spcPts val="11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Python interpreter = program that executes those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The Git model that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0175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WORKING DIRECTORY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What am I currently changing?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828800"/>
            <a:ext cx="30175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43400" y="19659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STAGING AREA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What have I selected for the next snapshot?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828800"/>
            <a:ext cx="30175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9659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REPOSITORY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What snapshots have I recorded?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48716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F5597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git add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48716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F5597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0175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git 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Staging gives the engineer control over exactly which changes belong in the next commit.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Inspect first. Then record.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597"/>
                </a:solidFill>
                <a:latin typeface="Consolas"/>
              </a:defRPr>
            </a:pPr>
            <a:r>
              <a:t>git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258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What is untracked, modified, staged or clean?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75688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597"/>
                </a:solidFill>
                <a:latin typeface="Consolas"/>
              </a:defRPr>
            </a:pPr>
            <a:r>
              <a:t>git diff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75688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What changed since the recorded/staged version?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25496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597"/>
                </a:solidFill>
                <a:latin typeface="Consolas"/>
              </a:defRPr>
            </a:pPr>
            <a:r>
              <a:t>git add &lt;file&gt;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25496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Select current changes for the next snapshot.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75304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597"/>
                </a:solidFill>
                <a:latin typeface="Consolas"/>
              </a:defRPr>
            </a:pPr>
            <a:r>
              <a:t>git commit -m "message"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575304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Record the staged snapshot.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25112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597"/>
                </a:solidFill>
                <a:latin typeface="Consolas"/>
              </a:defRPr>
            </a:pPr>
            <a:r>
              <a:t>git log --oneline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32511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Inspect compact history.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597"/>
                </a:solidFill>
                <a:latin typeface="Consolas"/>
              </a:defRPr>
            </a:pPr>
            <a:r>
              <a:t>.gitignore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07492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Declare patterns Git should normally ignore.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Commit is local. Push sends history to a remote.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840480" cy="2011680"/>
          </a:xfrm>
          <a:prstGeom prst="roundRect">
            <a:avLst/>
          </a:prstGeom>
          <a:solidFill>
            <a:srgbClr val="EFF5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LOCAL Git repository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main</a:t>
            </a:r>
            <a:br/>
            <a:r>
              <a:t>Your commits live on your computer.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828800"/>
            <a:ext cx="3840480" cy="2011680"/>
          </a:xfrm>
          <a:prstGeom prst="round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19" y="196596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GitHub repository</a:t>
            </a:r>
          </a:p>
          <a:p>
            <a:pPr>
              <a:spcBef>
                <a:spcPts val="700"/>
              </a:spcBef>
              <a:defRPr sz="1250">
                <a:solidFill>
                  <a:srgbClr val="1F2937"/>
                </a:solidFill>
              </a:defRPr>
            </a:pPr>
            <a:r>
              <a:t>main</a:t>
            </a:r>
            <a:br/>
            <a:r>
              <a:t>Remote copy used for backup, sharing and collaboration.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21488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F5597"/>
                </a:solidFill>
                <a:latin typeface="Consolas"/>
              </a:defRPr>
            </a:pPr>
            <a:r>
              <a:t>git push 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9260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B7280"/>
                </a:solidFill>
                <a:latin typeface="Consolas"/>
              </a:defRPr>
            </a:pPr>
            <a:r>
              <a:t>← fetch / pull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80060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F2937"/>
                </a:solidFill>
              </a:defRPr>
            </a:pPr>
            <a:r>
              <a:t>origin = local nickname for the GitHub remote • origin/main = local reference to the remote main branch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The workflow we will use throughout the programme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103120"/>
            <a:ext cx="141732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33172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Write / 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395728"/>
            <a:ext cx="256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F5597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75688" y="2103120"/>
            <a:ext cx="141732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233172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 status + git diff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2395728"/>
            <a:ext cx="256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F5597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9896" y="2103120"/>
            <a:ext cx="141732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233172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Select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216" y="2395728"/>
            <a:ext cx="256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F5597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4104" y="2103120"/>
            <a:ext cx="141732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77256" y="233172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 add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2395728"/>
            <a:ext cx="256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F5597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68312" y="2103120"/>
            <a:ext cx="141732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1464" y="233172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395728"/>
            <a:ext cx="256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F5597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19" y="2103120"/>
            <a:ext cx="141732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233172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395728"/>
            <a:ext cx="256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F5597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96728" y="2103120"/>
            <a:ext cx="141732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80" y="233172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93192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Inspect before staging.</a:t>
            </a:r>
          </a:p>
          <a:p>
            <a:pPr>
              <a:spcAft>
                <a:spcPts val="11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Make coherent commits with meaningful messages.</a:t>
            </a:r>
          </a:p>
          <a:p>
            <a:pPr>
              <a:spcAft>
                <a:spcPts val="11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Never commit secrets or credentials.</a:t>
            </a:r>
          </a:p>
          <a:p>
            <a:pPr>
              <a:spcAft>
                <a:spcPts val="11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Finish a task with a clean working tree and push important history.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Session 01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1EEF8"/>
                </a:solidFill>
              </a:defRPr>
            </a:pPr>
            <a:r>
              <a:t>✓  Workstation diagnosed and configured</a:t>
            </a:r>
          </a:p>
          <a:p>
            <a:pPr>
              <a:spcAft>
                <a:spcPts val="1000"/>
              </a:spcAft>
              <a:defRPr sz="1900">
                <a:solidFill>
                  <a:srgbClr val="E1EEF8"/>
                </a:solidFill>
              </a:defRPr>
            </a:pPr>
            <a:r>
              <a:t>✓  Course workspace created from the terminal</a:t>
            </a:r>
          </a:p>
          <a:p>
            <a:pPr>
              <a:spcAft>
                <a:spcPts val="1000"/>
              </a:spcAft>
              <a:defRPr sz="1900">
                <a:solidFill>
                  <a:srgbClr val="E1EEF8"/>
                </a:solidFill>
              </a:defRPr>
            </a:pPr>
            <a:r>
              <a:t>✓  Python program executed</a:t>
            </a:r>
          </a:p>
          <a:p>
            <a:pPr>
              <a:spcAft>
                <a:spcPts val="1000"/>
              </a:spcAft>
              <a:defRPr sz="1900">
                <a:solidFill>
                  <a:srgbClr val="E1EEF8"/>
                </a:solidFill>
              </a:defRPr>
            </a:pPr>
            <a:r>
              <a:t>✓  Local Git history created</a:t>
            </a:r>
          </a:p>
          <a:p>
            <a:pPr>
              <a:spcAft>
                <a:spcPts val="1000"/>
              </a:spcAft>
              <a:defRPr sz="1900">
                <a:solidFill>
                  <a:srgbClr val="E1EEF8"/>
                </a:solidFill>
              </a:defRPr>
            </a:pPr>
            <a:r>
              <a:t>✓  .gitignore and learning journal added</a:t>
            </a:r>
          </a:p>
          <a:p>
            <a:pPr>
              <a:spcAft>
                <a:spcPts val="1000"/>
              </a:spcAft>
              <a:defRPr sz="1900">
                <a:solidFill>
                  <a:srgbClr val="E1EEF8"/>
                </a:solidFill>
              </a:defRPr>
            </a:pPr>
            <a:r>
              <a:t>✓  Branch renamed to main</a:t>
            </a:r>
          </a:p>
          <a:p>
            <a:pPr>
              <a:spcAft>
                <a:spcPts val="1000"/>
              </a:spcAft>
              <a:defRPr sz="1900">
                <a:solidFill>
                  <a:srgbClr val="E1EEF8"/>
                </a:solidFill>
              </a:defRPr>
            </a:pPr>
            <a:r>
              <a:t>✓  GitHub remote connected and first push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97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Next: Session 02 — Representing Environmental Observations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